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handoutMasterIdLst>
    <p:handoutMasterId r:id="rId22"/>
  </p:handoutMasterIdLst>
  <p:sldIdLst>
    <p:sldId id="275" r:id="rId2"/>
    <p:sldId id="388" r:id="rId3"/>
    <p:sldId id="390" r:id="rId4"/>
    <p:sldId id="391" r:id="rId5"/>
    <p:sldId id="392" r:id="rId6"/>
    <p:sldId id="393" r:id="rId7"/>
    <p:sldId id="397" r:id="rId8"/>
    <p:sldId id="394" r:id="rId9"/>
    <p:sldId id="405" r:id="rId10"/>
    <p:sldId id="398" r:id="rId11"/>
    <p:sldId id="402" r:id="rId12"/>
    <p:sldId id="403" r:id="rId13"/>
    <p:sldId id="401" r:id="rId14"/>
    <p:sldId id="399" r:id="rId15"/>
    <p:sldId id="400" r:id="rId16"/>
    <p:sldId id="395" r:id="rId17"/>
    <p:sldId id="396" r:id="rId18"/>
    <p:sldId id="366" r:id="rId19"/>
    <p:sldId id="30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84" d="100"/>
          <a:sy n="84" d="100"/>
        </p:scale>
        <p:origin x="169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4/26/2025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4/26/2025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pPr/>
              <a:t>3</a:t>
            </a:fld>
            <a:endParaRPr lang="en-US"/>
          </a:p>
        </p:txBody>
      </p:sp>
    </p:spTree>
    <p:extLst>
      <p:ext uri="{BB962C8B-B14F-4D97-AF65-F5344CB8AC3E}">
        <p14:creationId xmlns:p14="http://schemas.microsoft.com/office/powerpoint/2010/main" val="3278059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18</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26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26 April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26 April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26 April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26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26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26 April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26 April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mkleehammer/pyodbc" TargetMode="External"/><Relationship Id="rId3" Type="http://schemas.openxmlformats.org/officeDocument/2006/relationships/hyperlink" Target="https://www.kaggle.com/" TargetMode="External"/><Relationship Id="rId7" Type="http://schemas.openxmlformats.org/officeDocument/2006/relationships/hyperlink" Target="https://docs.microsoft.com/sq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matplotlib.org/stable/contents.html" TargetMode="External"/><Relationship Id="rId5" Type="http://schemas.openxmlformats.org/officeDocument/2006/relationships/hyperlink" Target="https://pandas.pydata.org/" TargetMode="External"/><Relationship Id="rId4" Type="http://schemas.openxmlformats.org/officeDocument/2006/relationships/hyperlink" Target="https://docs.python.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12438"/>
            <a:ext cx="6709143" cy="885409"/>
          </a:xfrm>
        </p:spPr>
        <p:txBody>
          <a:bodyPr>
            <a:normAutofit/>
          </a:bodyPr>
          <a:lstStyle/>
          <a:p>
            <a:r>
              <a:rPr lang="en-US" sz="2800" dirty="0">
                <a:solidFill>
                  <a:schemeClr val="tx1"/>
                </a:solidFill>
                <a:latin typeface="Arial" pitchFamily="34" charset="0"/>
                <a:cs typeface="Arial" pitchFamily="34" charset="0"/>
              </a:rPr>
              <a:t>Traffic Accidents Analysis Report</a:t>
            </a:r>
            <a:endParaRPr lang="en-US" sz="5700" dirty="0">
              <a:solidFill>
                <a:srgbClr val="7030A0"/>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26 April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024316"/>
            <a:ext cx="8610599" cy="984885"/>
          </a:xfrm>
          <a:prstGeom prst="rect">
            <a:avLst/>
          </a:prstGeom>
          <a:noFill/>
        </p:spPr>
        <p:txBody>
          <a:bodyPr wrap="square">
            <a:spAutoFit/>
          </a:bodyPr>
          <a:lstStyle/>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INTERDISCIPLINARY PROJECT</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err="1">
                <a:solidFill>
                  <a:schemeClr val="tx1"/>
                </a:solidFill>
              </a:rPr>
              <a:t>Vaikundaraja</a:t>
            </a:r>
            <a:r>
              <a:rPr lang="en-US" sz="2000" b="1" dirty="0">
                <a:solidFill>
                  <a:schemeClr val="tx1"/>
                </a:solidFill>
              </a:rPr>
              <a:t> R,  </a:t>
            </a:r>
            <a:r>
              <a:rPr lang="en-US" sz="2000" b="1">
                <a:solidFill>
                  <a:schemeClr val="tx1"/>
                </a:solidFill>
              </a:rPr>
              <a:t>42111390                         </a:t>
            </a:r>
            <a:r>
              <a:rPr lang="en-US" sz="2000" b="1" dirty="0">
                <a:solidFill>
                  <a:schemeClr val="tx1"/>
                </a:solidFill>
              </a:rPr>
              <a:t>	 Dr. M. S. </a:t>
            </a:r>
            <a:r>
              <a:rPr lang="en-US" sz="2000" b="1" dirty="0" err="1">
                <a:solidFill>
                  <a:schemeClr val="tx1"/>
                </a:solidFill>
              </a:rPr>
              <a:t>Roobini</a:t>
            </a:r>
            <a:r>
              <a:rPr lang="en-US" sz="2000" b="1" dirty="0">
                <a:solidFill>
                  <a:schemeClr val="tx1"/>
                </a:solidFill>
              </a:rPr>
              <a:t>, M.E.,</a:t>
            </a:r>
            <a:r>
              <a:rPr lang="en-US" sz="2000" b="1" dirty="0" err="1">
                <a:solidFill>
                  <a:schemeClr val="tx1"/>
                </a:solidFill>
              </a:rPr>
              <a:t>Ph.D</a:t>
            </a:r>
            <a:r>
              <a:rPr lang="en-US" sz="2000" b="1" dirty="0">
                <a:solidFill>
                  <a:schemeClr val="tx1"/>
                </a:solidFill>
              </a:rPr>
              <a:t>., 				         	     Assistant Professor, CSE</a:t>
            </a:r>
            <a:endParaRPr lang="en-GB" sz="2000" dirty="0">
              <a:solidFill>
                <a:schemeClr val="tx1"/>
              </a:solidFill>
            </a:endParaRPr>
          </a:p>
        </p:txBody>
      </p:sp>
      <p:pic>
        <p:nvPicPr>
          <p:cNvPr id="10" name="Image 3"/>
          <p:cNvPicPr/>
          <p:nvPr/>
        </p:nvPicPr>
        <p:blipFill>
          <a:blip r:embed="rId3" cstate="print"/>
          <a:stretch>
            <a:fillRect/>
          </a:stretch>
        </p:blipFill>
        <p:spPr>
          <a:xfrm>
            <a:off x="342898" y="180602"/>
            <a:ext cx="8496302" cy="14010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85000" lnSpcReduction="20000"/>
          </a:bodyPr>
          <a:lstStyle/>
          <a:p>
            <a:pPr>
              <a:lnSpc>
                <a:spcPct val="150000"/>
              </a:lnSpc>
            </a:pPr>
            <a:r>
              <a:rPr lang="en-US" sz="2200" dirty="0">
                <a:latin typeface="Times New Roman" panose="02020603050405020304" pitchFamily="18" charset="0"/>
                <a:cs typeface="Times New Roman" panose="02020603050405020304" pitchFamily="18" charset="0"/>
              </a:rPr>
              <a:t>Certificate</a:t>
            </a:r>
          </a:p>
          <a:p>
            <a:pPr>
              <a:lnSpc>
                <a:spcPct val="150000"/>
              </a:lnSpc>
            </a:pPr>
            <a:r>
              <a:rPr lang="en-US" sz="2200" dirty="0">
                <a:latin typeface="Times New Roman" panose="02020603050405020304" pitchFamily="18" charset="0"/>
                <a:cs typeface="Times New Roman" panose="02020603050405020304" pitchFamily="18" charset="0"/>
              </a:rPr>
              <a:t>Introduction</a:t>
            </a:r>
          </a:p>
          <a:p>
            <a:pPr>
              <a:lnSpc>
                <a:spcPct val="150000"/>
              </a:lnSpc>
            </a:pPr>
            <a:r>
              <a:rPr lang="en-US" sz="2200" dirty="0">
                <a:latin typeface="Times New Roman" panose="02020603050405020304" pitchFamily="18" charset="0"/>
                <a:cs typeface="Times New Roman" panose="02020603050405020304" pitchFamily="18" charset="0"/>
              </a:rPr>
              <a:t>Abstract</a:t>
            </a:r>
          </a:p>
          <a:p>
            <a:pPr>
              <a:lnSpc>
                <a:spcPct val="150000"/>
              </a:lnSpc>
            </a:pPr>
            <a:r>
              <a:rPr lang="en-US" sz="2200" dirty="0">
                <a:latin typeface="Times New Roman" panose="02020603050405020304" pitchFamily="18" charset="0"/>
                <a:cs typeface="Times New Roman" panose="02020603050405020304" pitchFamily="18" charset="0"/>
              </a:rPr>
              <a:t>Objective</a:t>
            </a:r>
          </a:p>
          <a:p>
            <a:pPr>
              <a:lnSpc>
                <a:spcPct val="150000"/>
              </a:lnSpc>
            </a:pPr>
            <a:r>
              <a:rPr lang="en-US" sz="2200" dirty="0">
                <a:latin typeface="Times New Roman" panose="02020603050405020304" pitchFamily="18" charset="0"/>
                <a:cs typeface="Times New Roman" panose="02020603050405020304" pitchFamily="18" charset="0"/>
              </a:rPr>
              <a:t>System Architecture / Ideation Map</a:t>
            </a:r>
          </a:p>
          <a:p>
            <a:pPr>
              <a:lnSpc>
                <a:spcPct val="150000"/>
              </a:lnSpc>
            </a:pPr>
            <a:r>
              <a:rPr lang="en-US" sz="2200" dirty="0">
                <a:latin typeface="Times New Roman" panose="02020603050405020304" pitchFamily="18" charset="0"/>
                <a:cs typeface="Times New Roman" panose="02020603050405020304" pitchFamily="18" charset="0"/>
              </a:rPr>
              <a:t>Tools Used</a:t>
            </a:r>
          </a:p>
          <a:p>
            <a:pPr>
              <a:lnSpc>
                <a:spcPct val="150000"/>
              </a:lnSpc>
            </a:pPr>
            <a:r>
              <a:rPr lang="en-US" sz="2200" dirty="0">
                <a:latin typeface="Times New Roman" panose="02020603050405020304" pitchFamily="18" charset="0"/>
                <a:cs typeface="Times New Roman" panose="02020603050405020304" pitchFamily="18" charset="0"/>
              </a:rPr>
              <a:t>Module Implementation</a:t>
            </a:r>
          </a:p>
          <a:p>
            <a:pPr>
              <a:lnSpc>
                <a:spcPct val="150000"/>
              </a:lnSpc>
            </a:pPr>
            <a:r>
              <a:rPr lang="en-US" sz="2200" dirty="0">
                <a:latin typeface="Times New Roman" panose="02020603050405020304" pitchFamily="18" charset="0"/>
                <a:cs typeface="Times New Roman" panose="02020603050405020304" pitchFamily="18" charset="0"/>
              </a:rPr>
              <a:t>Results and Discussions</a:t>
            </a:r>
          </a:p>
          <a:p>
            <a:pPr>
              <a:lnSpc>
                <a:spcPct val="150000"/>
              </a:lnSpc>
            </a:pPr>
            <a:r>
              <a:rPr lang="en-US" sz="2200" dirty="0">
                <a:latin typeface="Times New Roman" panose="02020603050405020304" pitchFamily="18" charset="0"/>
                <a:cs typeface="Times New Roman" panose="02020603050405020304" pitchFamily="18" charset="0"/>
              </a:rPr>
              <a:t>Conclusion</a:t>
            </a:r>
          </a:p>
          <a:p>
            <a:pPr>
              <a:lnSpc>
                <a:spcPct val="150000"/>
              </a:lnSpc>
            </a:pPr>
            <a:r>
              <a:rPr lang="en-US" sz="2200" dirty="0">
                <a:latin typeface="Times New Roman" panose="02020603050405020304" pitchFamily="18" charset="0"/>
                <a:cs typeface="Times New Roman" panose="02020603050405020304" pitchFamily="18" charset="0"/>
              </a:rPr>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COURSE CERTIFICATE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pic>
        <p:nvPicPr>
          <p:cNvPr id="7" name="Content Placeholder 6">
            <a:extLst>
              <a:ext uri="{FF2B5EF4-FFF2-40B4-BE49-F238E27FC236}">
                <a16:creationId xmlns:a16="http://schemas.microsoft.com/office/drawing/2014/main" id="{31392801-04C4-2B5F-6268-DA28AD2EA46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384025" y="1600200"/>
            <a:ext cx="6375949" cy="4525963"/>
          </a:xfrm>
        </p:spPr>
      </p:pic>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txBody>
          <a:bodyPr>
            <a:normAutofit/>
          </a:bodyPr>
          <a:lstStyle/>
          <a:p>
            <a:pPr algn="just">
              <a:lnSpc>
                <a:spcPct val="150000"/>
              </a:lnSpc>
            </a:pPr>
            <a:r>
              <a:rPr sz="2200" dirty="0">
                <a:latin typeface="Times New Roman" panose="02020603050405020304" pitchFamily="18" charset="0"/>
                <a:cs typeface="Times New Roman" panose="02020603050405020304" pitchFamily="18" charset="0"/>
              </a:rPr>
              <a:t>The analysis of traffic accidents has become essential due to the rise in urbanization and the number of vehicles on the road. With the help of data analytics, we can gain insights into accident patterns, causes, and frequency. This project utilizes SQL Server and Python (with Pandas and Matplotlib) to connect, analyze, and visualize traffic accident data. The goal is to help identify critical areas for improvement in traffic management and safety measures.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noAutofit/>
          </a:bodyPr>
          <a:lstStyle/>
          <a:p>
            <a:pPr algn="just">
              <a:lnSpc>
                <a:spcPct val="150000"/>
              </a:lnSpc>
            </a:pPr>
            <a:r>
              <a:rPr lang="en-US" sz="2200" dirty="0">
                <a:latin typeface="Times New Roman" panose="02020603050405020304" pitchFamily="18" charset="0"/>
                <a:cs typeface="Times New Roman" panose="02020603050405020304" pitchFamily="18" charset="0"/>
              </a:rPr>
              <a:t>This project focuses on the comprehensive analysis of traffic accident data to discover hidden trends and patterns that contribute to accidents. By leveraging data from a SQL Server database and Python libraries, we perform statistical and visual analysis of key factors such as time, weather, light conditions, and causes of crashes. The visualizations generated assist in understanding accident distributions and their severity. The study ultimately aims to provide insights to improve road safety and reduce accident rates.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a:t>
            </a:r>
          </a:p>
        </p:txBody>
      </p:sp>
      <p:sp>
        <p:nvSpPr>
          <p:cNvPr id="3" name="Content Placeholder 2"/>
          <p:cNvSpPr>
            <a:spLocks noGrp="1"/>
          </p:cNvSpPr>
          <p:nvPr>
            <p:ph idx="1"/>
          </p:nvPr>
        </p:nvSpPr>
        <p:spPr/>
        <p:txBody>
          <a:bodyPr>
            <a:normAutofit fontScale="92500"/>
          </a:bodyPr>
          <a:lstStyle/>
          <a:p>
            <a:pPr algn="just">
              <a:lnSpc>
                <a:spcPct val="150000"/>
              </a:lnSpc>
            </a:pPr>
            <a:r>
              <a:rPr sz="2200" dirty="0">
                <a:latin typeface="Times New Roman" panose="02020603050405020304" pitchFamily="18" charset="0"/>
                <a:cs typeface="Times New Roman" panose="02020603050405020304" pitchFamily="18" charset="0"/>
              </a:rPr>
              <a:t>To connect SQL Server with Python using </a:t>
            </a:r>
            <a:r>
              <a:rPr sz="2200" dirty="0" err="1">
                <a:latin typeface="Times New Roman" panose="02020603050405020304" pitchFamily="18" charset="0"/>
                <a:cs typeface="Times New Roman" panose="02020603050405020304" pitchFamily="18" charset="0"/>
              </a:rPr>
              <a:t>PyODBC</a:t>
            </a:r>
            <a:r>
              <a:rPr sz="2200" dirty="0">
                <a:latin typeface="Times New Roman" panose="02020603050405020304" pitchFamily="18" charset="0"/>
                <a:cs typeface="Times New Roman" panose="02020603050405020304" pitchFamily="18" charset="0"/>
              </a:rPr>
              <a:t> for efficient data extraction.</a:t>
            </a:r>
          </a:p>
          <a:p>
            <a:pPr algn="just">
              <a:lnSpc>
                <a:spcPct val="150000"/>
              </a:lnSpc>
            </a:pPr>
            <a:r>
              <a:rPr sz="2200" dirty="0">
                <a:latin typeface="Times New Roman" panose="02020603050405020304" pitchFamily="18" charset="0"/>
                <a:cs typeface="Times New Roman" panose="02020603050405020304" pitchFamily="18" charset="0"/>
              </a:rPr>
              <a:t>To clean and preprocess the traffic accident dataset using Pandas.</a:t>
            </a:r>
          </a:p>
          <a:p>
            <a:pPr algn="just">
              <a:lnSpc>
                <a:spcPct val="150000"/>
              </a:lnSpc>
            </a:pPr>
            <a:r>
              <a:rPr lang="en-IN" sz="2200" dirty="0">
                <a:latin typeface="Times New Roman" panose="02020603050405020304" pitchFamily="18" charset="0"/>
                <a:cs typeface="Times New Roman" panose="02020603050405020304" pitchFamily="18" charset="0"/>
              </a:rPr>
              <a:t>T</a:t>
            </a:r>
            <a:r>
              <a:rPr sz="2200" dirty="0">
                <a:latin typeface="Times New Roman" panose="02020603050405020304" pitchFamily="18" charset="0"/>
                <a:cs typeface="Times New Roman" panose="02020603050405020304" pitchFamily="18" charset="0"/>
              </a:rPr>
              <a:t>o visualize key parameters such as crash type, time of day, lighting conditions, and primary cause using Matplotlib.</a:t>
            </a:r>
          </a:p>
          <a:p>
            <a:pPr algn="just">
              <a:lnSpc>
                <a:spcPct val="150000"/>
              </a:lnSpc>
            </a:pPr>
            <a:r>
              <a:rPr sz="2200" dirty="0">
                <a:latin typeface="Times New Roman" panose="02020603050405020304" pitchFamily="18" charset="0"/>
                <a:cs typeface="Times New Roman" panose="02020603050405020304" pitchFamily="18" charset="0"/>
              </a:rPr>
              <a:t>To uncover patterns that highlight risk-prone conditions for traffic accidents.</a:t>
            </a:r>
          </a:p>
          <a:p>
            <a:pPr algn="just">
              <a:lnSpc>
                <a:spcPct val="150000"/>
              </a:lnSpc>
            </a:pPr>
            <a:r>
              <a:rPr sz="2200" dirty="0">
                <a:latin typeface="Times New Roman" panose="02020603050405020304" pitchFamily="18" charset="0"/>
                <a:cs typeface="Times New Roman" panose="02020603050405020304" pitchFamily="18" charset="0"/>
              </a:rPr>
              <a:t>To summarize findings that can help traffic authorities take data-driven safety 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0BC8-6D60-F73D-7E90-0ED16EA5540F}"/>
              </a:ext>
            </a:extLst>
          </p:cNvPr>
          <p:cNvSpPr>
            <a:spLocks noGrp="1"/>
          </p:cNvSpPr>
          <p:nvPr>
            <p:ph type="title"/>
          </p:nvPr>
        </p:nvSpPr>
        <p:spPr/>
        <p:txBody>
          <a:bodyPr>
            <a:noAutofit/>
          </a:bodyPr>
          <a:lstStyle/>
          <a:p>
            <a:br>
              <a:rPr lang="en-US" sz="4000" dirty="0"/>
            </a:br>
            <a:r>
              <a:rPr lang="en-US" sz="4000" dirty="0"/>
              <a:t>System Architecture / Ideation Map</a:t>
            </a:r>
            <a:br>
              <a:rPr lang="en-US" sz="4000" dirty="0"/>
            </a:br>
            <a:endParaRPr lang="en-IN" sz="4000" dirty="0"/>
          </a:p>
        </p:txBody>
      </p:sp>
      <p:pic>
        <p:nvPicPr>
          <p:cNvPr id="10" name="Content Placeholder 9">
            <a:extLst>
              <a:ext uri="{FF2B5EF4-FFF2-40B4-BE49-F238E27FC236}">
                <a16:creationId xmlns:a16="http://schemas.microsoft.com/office/drawing/2014/main" id="{517EBF5E-6326-B1D1-50D1-31C5B5A2A8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54002"/>
            <a:ext cx="8229600" cy="4018359"/>
          </a:xfrm>
        </p:spPr>
      </p:pic>
      <p:sp>
        <p:nvSpPr>
          <p:cNvPr id="4" name="Date Placeholder 3">
            <a:extLst>
              <a:ext uri="{FF2B5EF4-FFF2-40B4-BE49-F238E27FC236}">
                <a16:creationId xmlns:a16="http://schemas.microsoft.com/office/drawing/2014/main" id="{180A67D9-EF38-C0A0-5D1B-BA1E6656213D}"/>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D21DAC4E-A6EF-4543-EACA-30F3817CE891}"/>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64A1384B-1EEF-5ABD-0D7D-B54ECA62A6BB}"/>
              </a:ext>
            </a:extLst>
          </p:cNvPr>
          <p:cNvSpPr>
            <a:spLocks noGrp="1"/>
          </p:cNvSpPr>
          <p:nvPr>
            <p:ph type="sldNum" sz="quarter" idx="12"/>
          </p:nvPr>
        </p:nvSpPr>
        <p:spPr/>
        <p:txBody>
          <a:bodyPr/>
          <a:lstStyle/>
          <a:p>
            <a:fld id="{7B28076C-CE04-4A00-BFAA-A90EA8355859}" type="slidenum">
              <a:rPr lang="en-US" smtClean="0"/>
              <a:pPr/>
              <a:t>7</a:t>
            </a:fld>
            <a:endParaRPr lang="en-US"/>
          </a:p>
        </p:txBody>
      </p:sp>
    </p:spTree>
    <p:extLst>
      <p:ext uri="{BB962C8B-B14F-4D97-AF65-F5344CB8AC3E}">
        <p14:creationId xmlns:p14="http://schemas.microsoft.com/office/powerpoint/2010/main" val="1212373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USED</a:t>
            </a:r>
            <a:endParaRPr dirty="0"/>
          </a:p>
        </p:txBody>
      </p:sp>
      <p:sp>
        <p:nvSpPr>
          <p:cNvPr id="3" name="Content Placeholder 2"/>
          <p:cNvSpPr>
            <a:spLocks noGrp="1"/>
          </p:cNvSpPr>
          <p:nvPr>
            <p:ph idx="1"/>
          </p:nvPr>
        </p:nvSpPr>
        <p:spPr/>
        <p:txBody>
          <a:bodyPr>
            <a:normAutofit/>
          </a:bodyPr>
          <a:lstStyle/>
          <a:p>
            <a:pPr algn="just">
              <a:buNone/>
            </a:pPr>
            <a:r>
              <a:rPr lang="en-IN" sz="2400" b="1" dirty="0">
                <a:latin typeface="Times New Roman" panose="02020603050405020304" pitchFamily="18" charset="0"/>
                <a:cs typeface="Times New Roman" panose="02020603050405020304" pitchFamily="18" charset="0"/>
              </a:rPr>
              <a:t>Database (for storing accident data)</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MySQL</a:t>
            </a:r>
            <a:r>
              <a:rPr lang="en-IN" sz="2400" dirty="0">
                <a:latin typeface="Times New Roman" panose="02020603050405020304" pitchFamily="18" charset="0"/>
                <a:cs typeface="Times New Roman" panose="02020603050405020304" pitchFamily="18" charset="0"/>
              </a:rPr>
              <a:t> / </a:t>
            </a:r>
            <a:r>
              <a:rPr lang="en-IN" sz="2400" b="1" dirty="0">
                <a:latin typeface="Times New Roman" panose="02020603050405020304" pitchFamily="18" charset="0"/>
                <a:cs typeface="Times New Roman" panose="02020603050405020304" pitchFamily="18" charset="0"/>
              </a:rPr>
              <a:t>PostgreSQL</a:t>
            </a:r>
            <a:r>
              <a:rPr lang="en-IN" sz="2400" dirty="0">
                <a:latin typeface="Times New Roman" panose="02020603050405020304" pitchFamily="18" charset="0"/>
                <a:cs typeface="Times New Roman" panose="02020603050405020304" pitchFamily="18" charset="0"/>
              </a:rPr>
              <a:t> / </a:t>
            </a:r>
            <a:r>
              <a:rPr lang="en-IN" sz="2400" b="1" dirty="0">
                <a:latin typeface="Times New Roman" panose="02020603050405020304" pitchFamily="18" charset="0"/>
                <a:cs typeface="Times New Roman" panose="02020603050405020304" pitchFamily="18" charset="0"/>
              </a:rPr>
              <a:t>SQLite</a:t>
            </a:r>
            <a:r>
              <a:rPr lang="en-IN" sz="2400" dirty="0">
                <a:latin typeface="Times New Roman" panose="02020603050405020304" pitchFamily="18" charset="0"/>
                <a:cs typeface="Times New Roman" panose="02020603050405020304" pitchFamily="18" charset="0"/>
              </a:rPr>
              <a:t>: To store traffic accident data like time, location, vehicle type, cause, etc.</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SQL to query data for analysis.</a:t>
            </a:r>
          </a:p>
          <a:p>
            <a:pPr algn="just">
              <a:buNone/>
            </a:pPr>
            <a:r>
              <a:rPr lang="en-US" sz="2400" b="1" dirty="0">
                <a:latin typeface="Times New Roman" panose="02020603050405020304" pitchFamily="18" charset="0"/>
                <a:cs typeface="Times New Roman" panose="02020603050405020304" pitchFamily="18" charset="0"/>
              </a:rPr>
              <a:t>Python Libraries</a:t>
            </a: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Pandas</a:t>
            </a:r>
            <a:r>
              <a:rPr lang="en-US" sz="2400" dirty="0">
                <a:latin typeface="Times New Roman" panose="02020603050405020304" pitchFamily="18" charset="0"/>
                <a:cs typeface="Times New Roman" panose="02020603050405020304" pitchFamily="18" charset="0"/>
              </a:rPr>
              <a:t>: For data manipulation and cleaning.</a:t>
            </a: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Matplotlib</a:t>
            </a:r>
            <a:r>
              <a:rPr lang="en-US" sz="2400" dirty="0">
                <a:latin typeface="Times New Roman" panose="02020603050405020304" pitchFamily="18" charset="0"/>
                <a:cs typeface="Times New Roman" panose="02020603050405020304" pitchFamily="18" charset="0"/>
              </a:rPr>
              <a:t>: For visualization of trends, and distributions.</a:t>
            </a:r>
          </a:p>
          <a:p>
            <a:pPr algn="just">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PyOdbc</a:t>
            </a:r>
            <a:r>
              <a:rPr lang="en-US" sz="2400" dirty="0">
                <a:latin typeface="Times New Roman" panose="02020603050405020304" pitchFamily="18" charset="0"/>
                <a:cs typeface="Times New Roman" panose="02020603050405020304" pitchFamily="18" charset="0"/>
              </a:rPr>
              <a:t>: For connecting SQL &amp; Python</a:t>
            </a:r>
          </a:p>
          <a:p>
            <a:pPr algn="just">
              <a:lnSpc>
                <a:spcPct val="170000"/>
              </a:lnSpc>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E4D02-7645-1888-3255-D59A0C863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1D4C1-483F-F360-420C-FEA61326184D}"/>
              </a:ext>
            </a:extLst>
          </p:cNvPr>
          <p:cNvSpPr>
            <a:spLocks noGrp="1"/>
          </p:cNvSpPr>
          <p:nvPr>
            <p:ph type="title"/>
          </p:nvPr>
        </p:nvSpPr>
        <p:spPr/>
        <p:txBody>
          <a:bodyPr/>
          <a:lstStyle/>
          <a:p>
            <a:r>
              <a:rPr lang="en-US" dirty="0"/>
              <a:t>Module </a:t>
            </a:r>
            <a:r>
              <a:rPr dirty="0"/>
              <a:t>Implementation</a:t>
            </a:r>
          </a:p>
        </p:txBody>
      </p:sp>
      <p:sp>
        <p:nvSpPr>
          <p:cNvPr id="3" name="Content Placeholder 2">
            <a:extLst>
              <a:ext uri="{FF2B5EF4-FFF2-40B4-BE49-F238E27FC236}">
                <a16:creationId xmlns:a16="http://schemas.microsoft.com/office/drawing/2014/main" id="{CED21AA8-4ADB-4EAC-D7D1-3942B41DFD68}"/>
              </a:ext>
            </a:extLst>
          </p:cNvPr>
          <p:cNvSpPr>
            <a:spLocks noGrp="1"/>
          </p:cNvSpPr>
          <p:nvPr>
            <p:ph idx="1"/>
          </p:nvPr>
        </p:nvSpPr>
        <p:spPr/>
        <p:txBody>
          <a:bodyPr>
            <a:normAutofit fontScale="55000" lnSpcReduction="20000"/>
          </a:bodyPr>
          <a:lstStyle/>
          <a:p>
            <a:pPr algn="just">
              <a:lnSpc>
                <a:spcPct val="170000"/>
              </a:lnSpc>
            </a:pPr>
            <a:r>
              <a:rPr dirty="0">
                <a:latin typeface="Times New Roman" panose="02020603050405020304" pitchFamily="18" charset="0"/>
                <a:cs typeface="Times New Roman" panose="02020603050405020304" pitchFamily="18" charset="0"/>
              </a:rPr>
              <a:t>The project begins by uploading a CSV file into a SQL Server database. Using </a:t>
            </a:r>
            <a:r>
              <a:rPr dirty="0" err="1">
                <a:latin typeface="Times New Roman" panose="02020603050405020304" pitchFamily="18" charset="0"/>
                <a:cs typeface="Times New Roman" panose="02020603050405020304" pitchFamily="18" charset="0"/>
              </a:rPr>
              <a:t>PyODBC</a:t>
            </a:r>
            <a:r>
              <a:rPr dirty="0">
                <a:latin typeface="Times New Roman" panose="02020603050405020304" pitchFamily="18" charset="0"/>
                <a:cs typeface="Times New Roman" panose="02020603050405020304" pitchFamily="18" charset="0"/>
              </a:rPr>
              <a:t>, the data is queried and loaded into a Pandas </a:t>
            </a:r>
            <a:r>
              <a:rPr dirty="0" err="1">
                <a:latin typeface="Times New Roman" panose="02020603050405020304" pitchFamily="18" charset="0"/>
                <a:cs typeface="Times New Roman" panose="02020603050405020304" pitchFamily="18" charset="0"/>
              </a:rPr>
              <a:t>DataFrame</a:t>
            </a:r>
            <a:r>
              <a:rPr dirty="0">
                <a:latin typeface="Times New Roman" panose="02020603050405020304" pitchFamily="18" charset="0"/>
                <a:cs typeface="Times New Roman" panose="02020603050405020304" pitchFamily="18" charset="0"/>
              </a:rPr>
              <a:t>. Essential data preprocessing is done to convert columns like date, hour, and cause into analyzable formats.</a:t>
            </a:r>
          </a:p>
          <a:p>
            <a:pPr algn="just">
              <a:lnSpc>
                <a:spcPct val="170000"/>
              </a:lnSpc>
            </a:pPr>
            <a:r>
              <a:rPr dirty="0">
                <a:latin typeface="Times New Roman" panose="02020603050405020304" pitchFamily="18" charset="0"/>
                <a:cs typeface="Times New Roman" panose="02020603050405020304" pitchFamily="18" charset="0"/>
              </a:rPr>
              <a:t>Multiple visualization techniques are used:</a:t>
            </a:r>
          </a:p>
          <a:p>
            <a:pPr algn="just">
              <a:lnSpc>
                <a:spcPct val="170000"/>
              </a:lnSpc>
            </a:pPr>
            <a:r>
              <a:rPr dirty="0">
                <a:latin typeface="Times New Roman" panose="02020603050405020304" pitchFamily="18" charset="0"/>
                <a:cs typeface="Times New Roman" panose="02020603050405020304" pitchFamily="18" charset="0"/>
              </a:rPr>
              <a:t>Line charts to track accident trends over time.</a:t>
            </a:r>
          </a:p>
          <a:p>
            <a:pPr algn="just">
              <a:lnSpc>
                <a:spcPct val="170000"/>
              </a:lnSpc>
            </a:pPr>
            <a:r>
              <a:rPr dirty="0">
                <a:latin typeface="Times New Roman" panose="02020603050405020304" pitchFamily="18" charset="0"/>
                <a:cs typeface="Times New Roman" panose="02020603050405020304" pitchFamily="18" charset="0"/>
              </a:rPr>
              <a:t>Bar charts for frequency of crashes by hour, day, and weather.</a:t>
            </a:r>
          </a:p>
          <a:p>
            <a:pPr algn="just">
              <a:lnSpc>
                <a:spcPct val="170000"/>
              </a:lnSpc>
            </a:pPr>
            <a:r>
              <a:rPr dirty="0">
                <a:latin typeface="Times New Roman" panose="02020603050405020304" pitchFamily="18" charset="0"/>
                <a:cs typeface="Times New Roman" panose="02020603050405020304" pitchFamily="18" charset="0"/>
              </a:rPr>
              <a:t>Pie and donut charts to showcase proportional data such as crash types and severity.</a:t>
            </a:r>
          </a:p>
          <a:p>
            <a:pPr algn="just">
              <a:lnSpc>
                <a:spcPct val="170000"/>
              </a:lnSpc>
            </a:pPr>
            <a:r>
              <a:rPr dirty="0">
                <a:latin typeface="Times New Roman" panose="02020603050405020304" pitchFamily="18" charset="0"/>
                <a:cs typeface="Times New Roman" panose="02020603050405020304" pitchFamily="18" charset="0"/>
              </a:rPr>
              <a:t>The visualizations were created using Matplotlib.</a:t>
            </a:r>
          </a:p>
        </p:txBody>
      </p:sp>
    </p:spTree>
    <p:extLst>
      <p:ext uri="{BB962C8B-B14F-4D97-AF65-F5344CB8AC3E}">
        <p14:creationId xmlns:p14="http://schemas.microsoft.com/office/powerpoint/2010/main" val="3905242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276F-206D-1679-2ACE-5E9F6D706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7B7F5-8A3D-5C82-4C9C-BBC326C976D3}"/>
              </a:ext>
            </a:extLst>
          </p:cNvPr>
          <p:cNvSpPr>
            <a:spLocks noGrp="1"/>
          </p:cNvSpPr>
          <p:nvPr>
            <p:ph type="title"/>
          </p:nvPr>
        </p:nvSpPr>
        <p:spPr/>
        <p:txBody>
          <a:bodyPr/>
          <a:lstStyle/>
          <a:p>
            <a:r>
              <a:rPr lang="en-US" dirty="0"/>
              <a:t>Module </a:t>
            </a:r>
            <a:r>
              <a:rPr dirty="0"/>
              <a:t>Implementation</a:t>
            </a:r>
          </a:p>
        </p:txBody>
      </p:sp>
      <p:pic>
        <p:nvPicPr>
          <p:cNvPr id="5" name="Content Placeholder 4">
            <a:extLst>
              <a:ext uri="{FF2B5EF4-FFF2-40B4-BE49-F238E27FC236}">
                <a16:creationId xmlns:a16="http://schemas.microsoft.com/office/drawing/2014/main" id="{3BE6F95E-4F3A-73B8-0FF0-B70A2C821FF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57200" y="1676400"/>
            <a:ext cx="8305800" cy="4648200"/>
          </a:xfrm>
        </p:spPr>
      </p:pic>
    </p:spTree>
    <p:extLst>
      <p:ext uri="{BB962C8B-B14F-4D97-AF65-F5344CB8AC3E}">
        <p14:creationId xmlns:p14="http://schemas.microsoft.com/office/powerpoint/2010/main" val="3868190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98DE6-ECB1-9393-6C3E-60D61D0C3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B6D28-1E25-69D1-781F-6FBD60400003}"/>
              </a:ext>
            </a:extLst>
          </p:cNvPr>
          <p:cNvSpPr>
            <a:spLocks noGrp="1"/>
          </p:cNvSpPr>
          <p:nvPr>
            <p:ph type="title"/>
          </p:nvPr>
        </p:nvSpPr>
        <p:spPr/>
        <p:txBody>
          <a:bodyPr/>
          <a:lstStyle/>
          <a:p>
            <a:r>
              <a:rPr lang="en-US" dirty="0"/>
              <a:t>Module </a:t>
            </a:r>
            <a:r>
              <a:rPr dirty="0"/>
              <a:t>Implementation</a:t>
            </a:r>
          </a:p>
        </p:txBody>
      </p:sp>
      <p:pic>
        <p:nvPicPr>
          <p:cNvPr id="5" name="Content Placeholder 4">
            <a:extLst>
              <a:ext uri="{FF2B5EF4-FFF2-40B4-BE49-F238E27FC236}">
                <a16:creationId xmlns:a16="http://schemas.microsoft.com/office/drawing/2014/main" id="{F674141E-17C0-D427-1FAD-F8CE79E2573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57200" y="1676400"/>
            <a:ext cx="8305800" cy="4648200"/>
          </a:xfrm>
        </p:spPr>
      </p:pic>
    </p:spTree>
    <p:extLst>
      <p:ext uri="{BB962C8B-B14F-4D97-AF65-F5344CB8AC3E}">
        <p14:creationId xmlns:p14="http://schemas.microsoft.com/office/powerpoint/2010/main" val="2317926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43222-CBF5-2FAA-0CD5-51CF10945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C32E4-1379-72A7-0A0F-CB9EFD86D78A}"/>
              </a:ext>
            </a:extLst>
          </p:cNvPr>
          <p:cNvSpPr>
            <a:spLocks noGrp="1"/>
          </p:cNvSpPr>
          <p:nvPr>
            <p:ph type="title"/>
          </p:nvPr>
        </p:nvSpPr>
        <p:spPr/>
        <p:txBody>
          <a:bodyPr/>
          <a:lstStyle/>
          <a:p>
            <a:r>
              <a:rPr lang="en-US" dirty="0"/>
              <a:t>Module </a:t>
            </a:r>
            <a:r>
              <a:rPr dirty="0"/>
              <a:t>Implementation</a:t>
            </a:r>
          </a:p>
        </p:txBody>
      </p:sp>
      <p:pic>
        <p:nvPicPr>
          <p:cNvPr id="5" name="Content Placeholder 4">
            <a:extLst>
              <a:ext uri="{FF2B5EF4-FFF2-40B4-BE49-F238E27FC236}">
                <a16:creationId xmlns:a16="http://schemas.microsoft.com/office/drawing/2014/main" id="{DB833759-0260-9EF0-B1A7-D5780C041C4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57200" y="1676400"/>
            <a:ext cx="8305800" cy="4648200"/>
          </a:xfrm>
        </p:spPr>
      </p:pic>
    </p:spTree>
    <p:extLst>
      <p:ext uri="{BB962C8B-B14F-4D97-AF65-F5344CB8AC3E}">
        <p14:creationId xmlns:p14="http://schemas.microsoft.com/office/powerpoint/2010/main" val="3509144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95EBC-6F8E-C516-1063-88D47448C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FED9E-4E78-4EBB-D1A6-14FA71C8C7E4}"/>
              </a:ext>
            </a:extLst>
          </p:cNvPr>
          <p:cNvSpPr>
            <a:spLocks noGrp="1"/>
          </p:cNvSpPr>
          <p:nvPr>
            <p:ph type="title"/>
          </p:nvPr>
        </p:nvSpPr>
        <p:spPr/>
        <p:txBody>
          <a:bodyPr/>
          <a:lstStyle/>
          <a:p>
            <a:r>
              <a:rPr lang="en-US" dirty="0"/>
              <a:t>Module </a:t>
            </a:r>
            <a:r>
              <a:rPr dirty="0"/>
              <a:t>Implementation</a:t>
            </a:r>
          </a:p>
        </p:txBody>
      </p:sp>
      <p:pic>
        <p:nvPicPr>
          <p:cNvPr id="5" name="Content Placeholder 4">
            <a:extLst>
              <a:ext uri="{FF2B5EF4-FFF2-40B4-BE49-F238E27FC236}">
                <a16:creationId xmlns:a16="http://schemas.microsoft.com/office/drawing/2014/main" id="{9C40DAC9-4840-CE9F-C16F-258B360CEC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76400"/>
            <a:ext cx="8305800" cy="4648200"/>
          </a:xfrm>
        </p:spPr>
      </p:pic>
    </p:spTree>
    <p:extLst>
      <p:ext uri="{BB962C8B-B14F-4D97-AF65-F5344CB8AC3E}">
        <p14:creationId xmlns:p14="http://schemas.microsoft.com/office/powerpoint/2010/main" val="3644454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E5757-2951-4FF8-1062-0314AEC85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13F0F-D398-7BE1-FC39-E3E2868713CA}"/>
              </a:ext>
            </a:extLst>
          </p:cNvPr>
          <p:cNvSpPr>
            <a:spLocks noGrp="1"/>
          </p:cNvSpPr>
          <p:nvPr>
            <p:ph type="title"/>
          </p:nvPr>
        </p:nvSpPr>
        <p:spPr/>
        <p:txBody>
          <a:bodyPr/>
          <a:lstStyle/>
          <a:p>
            <a:r>
              <a:rPr lang="en-US" dirty="0"/>
              <a:t>Module </a:t>
            </a:r>
            <a:r>
              <a:rPr dirty="0"/>
              <a:t>Implementation</a:t>
            </a:r>
          </a:p>
        </p:txBody>
      </p:sp>
      <p:pic>
        <p:nvPicPr>
          <p:cNvPr id="11" name="Content Placeholder 10">
            <a:extLst>
              <a:ext uri="{FF2B5EF4-FFF2-40B4-BE49-F238E27FC236}">
                <a16:creationId xmlns:a16="http://schemas.microsoft.com/office/drawing/2014/main" id="{A7BA1CFC-1AB8-38BE-97D5-CCDC16394F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5460" y="1295399"/>
            <a:ext cx="3956540" cy="5105401"/>
          </a:xfrm>
        </p:spPr>
      </p:pic>
      <p:pic>
        <p:nvPicPr>
          <p:cNvPr id="15" name="Picture 14">
            <a:extLst>
              <a:ext uri="{FF2B5EF4-FFF2-40B4-BE49-F238E27FC236}">
                <a16:creationId xmlns:a16="http://schemas.microsoft.com/office/drawing/2014/main" id="{CAB4CCC8-5558-ABDD-CF07-84CC2B158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676400"/>
            <a:ext cx="4191000" cy="4114800"/>
          </a:xfrm>
          <a:prstGeom prst="rect">
            <a:avLst/>
          </a:prstGeom>
        </p:spPr>
      </p:pic>
    </p:spTree>
    <p:extLst>
      <p:ext uri="{BB962C8B-B14F-4D97-AF65-F5344CB8AC3E}">
        <p14:creationId xmlns:p14="http://schemas.microsoft.com/office/powerpoint/2010/main" val="3254931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3B593-C8B5-3FB2-2748-21994A66F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CBCE0-4DF3-4942-67D2-D7A6C8D5FB1F}"/>
              </a:ext>
            </a:extLst>
          </p:cNvPr>
          <p:cNvSpPr>
            <a:spLocks noGrp="1"/>
          </p:cNvSpPr>
          <p:nvPr>
            <p:ph type="title"/>
          </p:nvPr>
        </p:nvSpPr>
        <p:spPr/>
        <p:txBody>
          <a:bodyPr/>
          <a:lstStyle/>
          <a:p>
            <a:r>
              <a:rPr lang="en-US" dirty="0"/>
              <a:t>Module </a:t>
            </a:r>
            <a:r>
              <a:rPr dirty="0"/>
              <a:t>Implementation</a:t>
            </a:r>
          </a:p>
        </p:txBody>
      </p:sp>
      <p:pic>
        <p:nvPicPr>
          <p:cNvPr id="11" name="Content Placeholder 10">
            <a:extLst>
              <a:ext uri="{FF2B5EF4-FFF2-40B4-BE49-F238E27FC236}">
                <a16:creationId xmlns:a16="http://schemas.microsoft.com/office/drawing/2014/main" id="{DE021C1D-1F64-D918-171A-1131C7F3C9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229" y="1219200"/>
            <a:ext cx="4254771" cy="5257800"/>
          </a:xfrm>
        </p:spPr>
      </p:pic>
      <p:pic>
        <p:nvPicPr>
          <p:cNvPr id="13" name="Picture 12">
            <a:extLst>
              <a:ext uri="{FF2B5EF4-FFF2-40B4-BE49-F238E27FC236}">
                <a16:creationId xmlns:a16="http://schemas.microsoft.com/office/drawing/2014/main" id="{BD548AAF-851F-9632-E104-A0FDC5345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219200"/>
            <a:ext cx="4309636" cy="4114800"/>
          </a:xfrm>
          <a:prstGeom prst="rect">
            <a:avLst/>
          </a:prstGeom>
        </p:spPr>
      </p:pic>
    </p:spTree>
    <p:extLst>
      <p:ext uri="{BB962C8B-B14F-4D97-AF65-F5344CB8AC3E}">
        <p14:creationId xmlns:p14="http://schemas.microsoft.com/office/powerpoint/2010/main" val="984773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and Discussions</a:t>
            </a:r>
          </a:p>
        </p:txBody>
      </p:sp>
      <p:sp>
        <p:nvSpPr>
          <p:cNvPr id="3" name="Content Placeholder 2"/>
          <p:cNvSpPr>
            <a:spLocks noGrp="1"/>
          </p:cNvSpPr>
          <p:nvPr>
            <p:ph idx="1"/>
          </p:nvPr>
        </p:nvSpPr>
        <p:spPr/>
        <p:txBody>
          <a:bodyPr>
            <a:normAutofit fontScale="92500" lnSpcReduction="20000"/>
          </a:bodyPr>
          <a:lstStyle/>
          <a:p>
            <a:pPr algn="just">
              <a:lnSpc>
                <a:spcPct val="150000"/>
              </a:lnSpc>
            </a:pPr>
            <a:r>
              <a:rPr sz="2200" dirty="0">
                <a:latin typeface="Times New Roman" panose="02020603050405020304" pitchFamily="18" charset="0"/>
                <a:cs typeface="Times New Roman" panose="02020603050405020304" pitchFamily="18" charset="0"/>
              </a:rPr>
              <a:t>The analysis revealed that:</a:t>
            </a:r>
          </a:p>
          <a:p>
            <a:pPr algn="just">
              <a:lnSpc>
                <a:spcPct val="150000"/>
              </a:lnSpc>
            </a:pPr>
            <a:r>
              <a:rPr sz="2200" dirty="0">
                <a:latin typeface="Times New Roman" panose="02020603050405020304" pitchFamily="18" charset="0"/>
                <a:cs typeface="Times New Roman" panose="02020603050405020304" pitchFamily="18" charset="0"/>
              </a:rPr>
              <a:t>Most accidents occurred during specific hours of the day, highlighting peak-risk periods.</a:t>
            </a:r>
          </a:p>
          <a:p>
            <a:pPr algn="just">
              <a:lnSpc>
                <a:spcPct val="150000"/>
              </a:lnSpc>
            </a:pPr>
            <a:r>
              <a:rPr sz="2200" dirty="0">
                <a:latin typeface="Times New Roman" panose="02020603050405020304" pitchFamily="18" charset="0"/>
                <a:cs typeface="Times New Roman" panose="02020603050405020304" pitchFamily="18" charset="0"/>
              </a:rPr>
              <a:t>Certain weather and lighting conditions contributed more significantly to crash frequency.</a:t>
            </a:r>
          </a:p>
          <a:p>
            <a:pPr algn="just">
              <a:lnSpc>
                <a:spcPct val="150000"/>
              </a:lnSpc>
            </a:pPr>
            <a:r>
              <a:rPr sz="2200" dirty="0">
                <a:latin typeface="Times New Roman" panose="02020603050405020304" pitchFamily="18" charset="0"/>
                <a:cs typeface="Times New Roman" panose="02020603050405020304" pitchFamily="18" charset="0"/>
              </a:rPr>
              <a:t>The majority of crashes were caused by a few common factors like distracted driving.</a:t>
            </a:r>
          </a:p>
          <a:p>
            <a:pPr algn="just">
              <a:lnSpc>
                <a:spcPct val="150000"/>
              </a:lnSpc>
            </a:pPr>
            <a:r>
              <a:rPr sz="2200" dirty="0">
                <a:latin typeface="Times New Roman" panose="02020603050405020304" pitchFamily="18" charset="0"/>
                <a:cs typeface="Times New Roman" panose="02020603050405020304" pitchFamily="18" charset="0"/>
              </a:rPr>
              <a:t>There’s a correlation between number of vehicles and injury severity.</a:t>
            </a:r>
          </a:p>
          <a:p>
            <a:pPr algn="just">
              <a:lnSpc>
                <a:spcPct val="150000"/>
              </a:lnSpc>
            </a:pPr>
            <a:r>
              <a:rPr sz="2200" dirty="0">
                <a:latin typeface="Times New Roman" panose="02020603050405020304" pitchFamily="18" charset="0"/>
                <a:cs typeface="Times New Roman" panose="02020603050405020304" pitchFamily="18" charset="0"/>
              </a:rPr>
              <a:t>These insights help in planning targeted awareness campaigns and implementing road safety rules based on data-driven findings.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algn="just">
              <a:lnSpc>
                <a:spcPct val="150000"/>
              </a:lnSpc>
            </a:pPr>
            <a:r>
              <a:rPr sz="2200" dirty="0">
                <a:latin typeface="Times New Roman" panose="02020603050405020304" pitchFamily="18" charset="0"/>
                <a:cs typeface="Times New Roman" panose="02020603050405020304" pitchFamily="18" charset="0"/>
              </a:rPr>
              <a:t>The project successfully demonstrated how integrating SQL and Python can facilitate effective data analysis and visualization of traffic accident data. From identifying peak accident times to analyzing contributing factors, the study provided actionable insights. These findings can be used to inform policy makers and improve road safety strategies. This project sets the stage for further advanced analysis using machine learning or geospatial mapping in future developments</a:t>
            </a:r>
            <a:r>
              <a:rPr sz="22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4" name="Date Placeholder 3">
            <a:extLst>
              <a:ext uri="{FF2B5EF4-FFF2-40B4-BE49-F238E27FC236}">
                <a16:creationId xmlns:a16="http://schemas.microsoft.com/office/drawing/2014/main" id="{2B427FE9-29DA-0E49-B4DE-4727923C5DB0}"/>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18</a:t>
            </a:fld>
            <a:endParaRPr lang="en-US"/>
          </a:p>
        </p:txBody>
      </p:sp>
      <p:sp>
        <p:nvSpPr>
          <p:cNvPr id="5" name="Rectangle 1">
            <a:extLst>
              <a:ext uri="{FF2B5EF4-FFF2-40B4-BE49-F238E27FC236}">
                <a16:creationId xmlns:a16="http://schemas.microsoft.com/office/drawing/2014/main" id="{A66D00CF-556C-1FF9-FD09-E0E43AC483C6}"/>
              </a:ext>
            </a:extLst>
          </p:cNvPr>
          <p:cNvSpPr>
            <a:spLocks noGrp="1" noChangeArrowheads="1"/>
          </p:cNvSpPr>
          <p:nvPr>
            <p:ph idx="1"/>
          </p:nvPr>
        </p:nvSpPr>
        <p:spPr bwMode="auto">
          <a:xfrm>
            <a:off x="533400" y="1792563"/>
            <a:ext cx="8153400" cy="426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lang="en-US" sz="2200" b="1" dirty="0">
                <a:latin typeface="Times New Roman" panose="02020603050405020304" pitchFamily="18" charset="0"/>
                <a:cs typeface="Times New Roman" panose="02020603050405020304" pitchFamily="18" charset="0"/>
              </a:rPr>
              <a:t>Kaggle Traffic Accident Dataset</a:t>
            </a:r>
            <a:r>
              <a:rPr lang="en-US" sz="2200" dirty="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hlinkClick r:id="rId3"/>
              </a:rPr>
              <a:t>https://www.kaggle.com</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(Search: Traffic Accident or Road Crash Dataset)</a:t>
            </a:r>
          </a:p>
          <a:p>
            <a:pPr marL="0" marR="0" lvl="0" indent="0" algn="just" defTabSz="914400" rtl="0" eaLnBrk="0" fontAlgn="base" latinLnBrk="0" hangingPunct="0">
              <a:lnSpc>
                <a:spcPct val="150000"/>
              </a:lnSpc>
              <a:spcBef>
                <a:spcPct val="0"/>
              </a:spcBef>
              <a:spcAft>
                <a:spcPct val="0"/>
              </a:spcAft>
              <a:buClrTx/>
              <a:buSzTx/>
              <a:buFontTx/>
              <a:buChar char="•"/>
              <a:tabLst/>
            </a:pPr>
            <a:r>
              <a:rPr lang="fr-FR" sz="2200" b="1" dirty="0">
                <a:latin typeface="Times New Roman" panose="02020603050405020304" pitchFamily="18" charset="0"/>
                <a:cs typeface="Times New Roman" panose="02020603050405020304" pitchFamily="18" charset="0"/>
              </a:rPr>
              <a:t>Python Documentation</a:t>
            </a:r>
            <a:r>
              <a:rPr lang="fr-FR" sz="2200" dirty="0">
                <a:latin typeface="Times New Roman" panose="02020603050405020304" pitchFamily="18" charset="0"/>
                <a:cs typeface="Times New Roman" panose="02020603050405020304" pitchFamily="18" charset="0"/>
              </a:rPr>
              <a:t> – </a:t>
            </a:r>
            <a:r>
              <a:rPr lang="fr-FR" sz="2200" dirty="0">
                <a:latin typeface="Times New Roman" panose="02020603050405020304" pitchFamily="18" charset="0"/>
                <a:cs typeface="Times New Roman" panose="02020603050405020304" pitchFamily="18" charset="0"/>
                <a:hlinkClick r:id="rId4"/>
              </a:rPr>
              <a:t>https://docs.python.org</a:t>
            </a:r>
            <a:endParaRPr lang="en-US" sz="2200" i="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lang="en-IN" sz="2200" b="1" dirty="0">
                <a:latin typeface="Times New Roman" panose="02020603050405020304" pitchFamily="18" charset="0"/>
                <a:cs typeface="Times New Roman" panose="02020603050405020304" pitchFamily="18" charset="0"/>
              </a:rPr>
              <a:t>Pandas Library Documentation</a:t>
            </a:r>
            <a:r>
              <a:rPr lang="en-IN" sz="2200" dirty="0">
                <a:latin typeface="Times New Roman" panose="02020603050405020304" pitchFamily="18" charset="0"/>
                <a:cs typeface="Times New Roman" panose="02020603050405020304" pitchFamily="18" charset="0"/>
              </a:rPr>
              <a:t> – </a:t>
            </a:r>
            <a:r>
              <a:rPr lang="en-IN" sz="2200" dirty="0">
                <a:latin typeface="Times New Roman" panose="02020603050405020304" pitchFamily="18" charset="0"/>
                <a:cs typeface="Times New Roman" panose="02020603050405020304" pitchFamily="18" charset="0"/>
                <a:hlinkClick r:id="rId5"/>
              </a:rPr>
              <a:t>https://pandas.pydata.org</a:t>
            </a:r>
            <a:endParaRPr lang="en-US" sz="2200" i="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lang="en-IN" sz="2200" b="1" dirty="0" err="1">
                <a:latin typeface="Times New Roman" panose="02020603050405020304" pitchFamily="18" charset="0"/>
                <a:cs typeface="Times New Roman" panose="02020603050405020304" pitchFamily="18" charset="0"/>
              </a:rPr>
              <a:t>MatplotlibDocumentation</a:t>
            </a:r>
            <a:r>
              <a:rPr lang="en-IN" sz="2200" b="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hlinkClick r:id="rId6"/>
              </a:rPr>
              <a:t>https://matplotlib.org/stable/contents.html</a:t>
            </a:r>
            <a:endParaRPr lang="en-US" sz="2200" i="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lang="en-IN" sz="2200" b="1" dirty="0">
                <a:latin typeface="Times New Roman" panose="02020603050405020304" pitchFamily="18" charset="0"/>
                <a:cs typeface="Times New Roman" panose="02020603050405020304" pitchFamily="18" charset="0"/>
              </a:rPr>
              <a:t>SQL-Server-Documentation-</a:t>
            </a:r>
            <a:r>
              <a:rPr lang="en-IN" sz="2200" dirty="0" err="1">
                <a:latin typeface="Times New Roman" panose="02020603050405020304" pitchFamily="18" charset="0"/>
                <a:cs typeface="Times New Roman" panose="02020603050405020304" pitchFamily="18" charset="0"/>
              </a:rPr>
              <a:t>MicrosoftDocs</a:t>
            </a:r>
            <a:r>
              <a:rPr lang="en-IN" sz="22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hlinkClick r:id="rId7"/>
              </a:rPr>
              <a:t>https://docs.microsoft.com/sql</a:t>
            </a:r>
            <a:endParaRPr lang="en-US" sz="2200" i="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lang="en-US" sz="2200" b="1" dirty="0" err="1">
                <a:latin typeface="Times New Roman" panose="02020603050405020304" pitchFamily="18" charset="0"/>
                <a:cs typeface="Times New Roman" panose="02020603050405020304" pitchFamily="18" charset="0"/>
              </a:rPr>
              <a:t>PyODBC</a:t>
            </a:r>
            <a:r>
              <a:rPr lang="en-US" sz="2200" b="1" dirty="0">
                <a:latin typeface="Times New Roman" panose="02020603050405020304" pitchFamily="18" charset="0"/>
                <a:cs typeface="Times New Roman" panose="02020603050405020304" pitchFamily="18" charset="0"/>
              </a:rPr>
              <a:t> Library</a:t>
            </a:r>
            <a:r>
              <a:rPr lang="en-US" sz="2200" dirty="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hlinkClick r:id="rId8"/>
              </a:rPr>
              <a:t>https://github.com/mkleehammer/pyodbc</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64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26 April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19</a:t>
            </a:fld>
            <a:endParaRPr lang="en-US"/>
          </a:p>
        </p:txBody>
      </p:sp>
      <p:sp>
        <p:nvSpPr>
          <p:cNvPr id="6" name="Rectangle 5"/>
          <p:cNvSpPr/>
          <p:nvPr/>
        </p:nvSpPr>
        <p:spPr>
          <a:xfrm>
            <a:off x="609600" y="2690336"/>
            <a:ext cx="7918940" cy="1555041"/>
          </a:xfrm>
          <a:prstGeom prst="rect">
            <a:avLst/>
          </a:prstGeom>
        </p:spPr>
        <p:txBody>
          <a:bodyPr wrap="square">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6420</TotalTime>
  <Words>791</Words>
  <Application>Microsoft Office PowerPoint</Application>
  <PresentationFormat>On-screen Show (4:3)</PresentationFormat>
  <Paragraphs>87</Paragraphs>
  <Slides>19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Custom Design</vt:lpstr>
      <vt:lpstr>  </vt:lpstr>
      <vt:lpstr>AGENDA</vt:lpstr>
      <vt:lpstr>COURSE CERTIFICATE</vt:lpstr>
      <vt:lpstr>Introduction</vt:lpstr>
      <vt:lpstr>Abstract</vt:lpstr>
      <vt:lpstr>Objective</vt:lpstr>
      <vt:lpstr> System Architecture / Ideation Map </vt:lpstr>
      <vt:lpstr>TOOLS USED</vt:lpstr>
      <vt:lpstr>Module Implementation</vt:lpstr>
      <vt:lpstr>Module Implementation</vt:lpstr>
      <vt:lpstr>Module Implementation</vt:lpstr>
      <vt:lpstr>Module Implementation</vt:lpstr>
      <vt:lpstr>Module Implementation</vt:lpstr>
      <vt:lpstr>Module Implementation</vt:lpstr>
      <vt:lpstr>Module Implementation</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vaikunda raja</cp:lastModifiedBy>
  <cp:revision>130</cp:revision>
  <dcterms:created xsi:type="dcterms:W3CDTF">2019-11-06T07:48:53Z</dcterms:created>
  <dcterms:modified xsi:type="dcterms:W3CDTF">2025-04-26T06:50:01Z</dcterms:modified>
</cp:coreProperties>
</file>